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media/image2.png" ContentType="image/png"/>
  <Override PartName="/ppt/media/image4.png" ContentType="image/png"/>
  <Override PartName="/ppt/media/image3.wmf" ContentType="image/x-wmf"/>
  <Override PartName="/ppt/media/image5.png" ContentType="image/png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_rels/slide9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38.xml.rels" ContentType="application/vnd.openxmlformats-package.relationships+xml"/>
  <Override PartName="/ppt/slides/_rels/slide4.xml.rels" ContentType="application/vnd.openxmlformats-package.relationships+xml"/>
  <Override PartName="/ppt/slides/_rels/slide39.xml.rels" ContentType="application/vnd.openxmlformats-package.relationships+xml"/>
  <Override PartName="/ppt/slides/_rels/slide5.xml.rels" ContentType="application/vnd.openxmlformats-package.relationships+xml"/>
  <Override PartName="/ppt/slides/_rels/slide50.xml.rels" ContentType="application/vnd.openxmlformats-package.relationships+xml"/>
  <Override PartName="/ppt/slides/_rels/slide6.xml.rels" ContentType="application/vnd.openxmlformats-package.relationships+xml"/>
  <Override PartName="/ppt/slides/_rels/slide51.xml.rels" ContentType="application/vnd.openxmlformats-package.relationships+xml"/>
  <Override PartName="/ppt/slides/_rels/slide7.xml.rels" ContentType="application/vnd.openxmlformats-package.relationships+xml"/>
  <Override PartName="/ppt/slides/_rels/slide52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48.xml.rels" ContentType="application/vnd.openxmlformats-package.relationships+xml"/>
  <Override PartName="/ppt/slides/_rels/slide49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Relationship Id="rId9" Type="http://schemas.openxmlformats.org/officeDocument/2006/relationships/slideLayout" Target="../slideLayouts/slideLayout4.xml"/><Relationship Id="rId10" Type="http://schemas.openxmlformats.org/officeDocument/2006/relationships/slideLayout" Target="../slideLayouts/slideLayout5.xml"/><Relationship Id="rId11" Type="http://schemas.openxmlformats.org/officeDocument/2006/relationships/slideLayout" Target="../slideLayouts/slideLayout6.xml"/><Relationship Id="rId12" Type="http://schemas.openxmlformats.org/officeDocument/2006/relationships/slideLayout" Target="../slideLayouts/slideLayout7.xml"/><Relationship Id="rId13" Type="http://schemas.openxmlformats.org/officeDocument/2006/relationships/slideLayout" Target="../slideLayouts/slideLayout8.xml"/><Relationship Id="rId14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 rot="10797600">
            <a:off x="6120" y="-720"/>
            <a:ext cx="2458080" cy="6858720"/>
          </a:xfrm>
          <a:custGeom>
            <a:avLst/>
            <a:gdLst/>
            <a:ahLst/>
            <a:rect l="l" t="t" r="r" b="b"/>
            <a:pathLst>
              <a:path w="5305647" h="6868633">
                <a:moveTo>
                  <a:pt x="0" y="6858000"/>
                </a:moveTo>
                <a:lnTo>
                  <a:pt x="3955312" y="0"/>
                </a:lnTo>
                <a:lnTo>
                  <a:pt x="5305647" y="0"/>
                </a:lnTo>
                <a:lnTo>
                  <a:pt x="5305647" y="6868633"/>
                </a:lnTo>
                <a:lnTo>
                  <a:pt x="0" y="6858000"/>
                </a:lnTo>
                <a:close/>
              </a:path>
            </a:pathLst>
          </a:custGeom>
          <a:solidFill>
            <a:srgbClr val="6760a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" name="" descr=""/>
          <p:cNvPicPr/>
          <p:nvPr/>
        </p:nvPicPr>
        <p:blipFill>
          <a:blip r:embed="rId2"/>
          <a:stretch/>
        </p:blipFill>
        <p:spPr>
          <a:xfrm>
            <a:off x="6545880" y="5819400"/>
            <a:ext cx="1274760" cy="900720"/>
          </a:xfrm>
          <a:prstGeom prst="rect">
            <a:avLst/>
          </a:prstGeom>
          <a:ln>
            <a:noFill/>
          </a:ln>
        </p:spPr>
      </p:pic>
      <p:pic>
        <p:nvPicPr>
          <p:cNvPr id="2" name="" descr=""/>
          <p:cNvPicPr/>
          <p:nvPr/>
        </p:nvPicPr>
        <p:blipFill>
          <a:blip r:embed="rId3"/>
          <a:stretch/>
        </p:blipFill>
        <p:spPr>
          <a:xfrm>
            <a:off x="7821000" y="5768280"/>
            <a:ext cx="1321920" cy="951840"/>
          </a:xfrm>
          <a:prstGeom prst="rect">
            <a:avLst/>
          </a:prstGeom>
          <a:ln>
            <a:noFill/>
          </a:ln>
        </p:spPr>
      </p:pic>
      <p:pic>
        <p:nvPicPr>
          <p:cNvPr id="3" name="Imagem 7" descr=""/>
          <p:cNvPicPr/>
          <p:nvPr/>
        </p:nvPicPr>
        <p:blipFill>
          <a:blip r:embed="rId4"/>
          <a:stretch/>
        </p:blipFill>
        <p:spPr>
          <a:xfrm>
            <a:off x="3240" y="6735240"/>
            <a:ext cx="9139680" cy="123840"/>
          </a:xfrm>
          <a:prstGeom prst="rect">
            <a:avLst/>
          </a:prstGeom>
          <a:ln w="9360">
            <a:noFill/>
          </a:ln>
        </p:spPr>
      </p:pic>
      <p:pic>
        <p:nvPicPr>
          <p:cNvPr id="4" name="" descr=""/>
          <p:cNvPicPr/>
          <p:nvPr/>
        </p:nvPicPr>
        <p:blipFill>
          <a:blip r:embed="rId5"/>
          <a:stretch/>
        </p:blipFill>
        <p:spPr>
          <a:xfrm rot="10200">
            <a:off x="5310720" y="5618880"/>
            <a:ext cx="1113840" cy="1113840"/>
          </a:xfrm>
          <a:prstGeom prst="rect">
            <a:avLst/>
          </a:prstGeom>
          <a:ln>
            <a:noFill/>
          </a:ln>
        </p:spPr>
      </p:pic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2372760" y="42480"/>
            <a:ext cx="6770880" cy="681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0000"/>
                </a:solidFill>
                <a:latin typeface="Calibri"/>
                <a:ea typeface="DejaVu Sans"/>
              </a:rPr>
              <a:t>CAMINHOS DA SUSTENTABILIDADE NO </a:t>
            </a:r>
            <a:r>
              <a:rPr b="1" lang="pt-BR" sz="3600" spc="-1" strike="noStrike">
                <a:solidFill>
                  <a:srgbClr val="4b1f6f"/>
                </a:solidFill>
                <a:latin typeface="Calibri"/>
                <a:ea typeface="DejaVu Sans"/>
              </a:rPr>
              <a:t>IDR-Paraná</a:t>
            </a:r>
            <a:endParaRPr b="0" lang="pt-BR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3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4b1f6f"/>
                </a:solidFill>
                <a:latin typeface="Calibri"/>
                <a:ea typeface="Microsoft YaHei"/>
              </a:rPr>
              <a:t>A realidade e o futuro que buscamos (10 anos)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4b1f6f"/>
                </a:solidFill>
                <a:latin typeface="Calibri"/>
                <a:ea typeface="Microsoft YaHei"/>
              </a:rPr>
              <a:t>O rumo da agricultura paranaense sob o olhar da extensão rural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4b1f6f"/>
                </a:solidFill>
                <a:latin typeface="Calibri"/>
                <a:ea typeface="Microsoft YaHei"/>
              </a:rPr>
              <a:t>Intensificação da produção com responsabilidade e sustentabilidade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4b1f6f"/>
                </a:solidFill>
                <a:latin typeface="Calibri"/>
                <a:ea typeface="Microsoft YaHei"/>
              </a:rPr>
              <a:t>Resiliência dos sistemas produtivos frente às mudanças climáticas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2423160" y="-1800"/>
            <a:ext cx="6720120" cy="625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A TRANSFORMAÇÃO DA AGRICULTURA PARANAENSE</a:t>
            </a:r>
            <a:endParaRPr b="0" lang="pt-BR" sz="3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Década de 1970: marco histórico da modernização agrícola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Pós-geada de 1975 → diversificação e expansão produtiva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2000 </a:t>
            </a: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→ Uso intensivo de tecnologia, agroquímicos e mecanização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Grande aumento da produção/produtividade 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1980360" y="159840"/>
            <a:ext cx="7229880" cy="681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OS CUSTOS DA MODERNIZAÇÃO</a:t>
            </a:r>
            <a:endParaRPr b="0" lang="pt-BR" sz="3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Poluição do solo e da água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Perda de biodiversidade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Erosão e degradação dos solos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Pressão crescente sobre os recursos hídricos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Impactos econômicos, ambientais e sociais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2005200" y="88920"/>
            <a:ext cx="7059240" cy="5952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REVOLUÇÃO VERDE: AVANÇOS E LIMITES</a:t>
            </a:r>
            <a:endParaRPr b="0" lang="pt-BR" sz="3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Aumento global da produção de alimentos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Dependência de insumos externos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Resistência de pragas e doenças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Esgotamento progressivo dos recursos naturais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1804320" y="249840"/>
            <a:ext cx="7444080" cy="681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O DESAFIO ESTRUTURAL</a:t>
            </a:r>
            <a:endParaRPr b="0" lang="pt-BR" sz="3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Aumentar a produção e produtividade sem comprometer os recursos naturais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Produzir hoje sem inviabilizar o amanhã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Necessidade de equilíbrio entre produção e conservação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Garantir segurança na produção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2431440" y="160920"/>
            <a:ext cx="6424560" cy="560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INTENSIFICAÇÃO SUSTENTÁVEL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Produzir mais, com menos impacto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Foco nos resultados, não apenas nas técnicas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Integração solo, água, biodiversidade e produção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Base conceitual do PRNS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2013480" y="201600"/>
            <a:ext cx="7129800" cy="733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SISTEMAS AGROECOLOGICAMENTE INTEGRADOS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Diversificação e rotação de culturas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Conservação do solo e da água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Manejo Integrado de Pragas,  doenças e invasoras (MIP/MID/MIPD)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Recuperação de pastagens e áreas degradadas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Menor dependência de agroquímicos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2830680" y="339840"/>
            <a:ext cx="5735160" cy="458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TRANSIÇÃO PARA A SUSTENTABILIDADE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Processo não linear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Eficiência – fazer mais com menos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Substituição – trocar práticas e insumos insustentáveis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Redesenho – transformar e adaptar os sistemas produtivos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2272680" y="322920"/>
            <a:ext cx="6616440" cy="612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REDESENHO ADITIVO E INCREMENTAL NAS UNIDADES REFERENCIAIS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Integração de novas tecnologias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Mudanças graduais e seguras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Ajustes contínuos conforme o ecossistema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Aprendizado permanente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2726280" y="490320"/>
            <a:ext cx="5960520" cy="48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REDESENHO TRANSFORMADOR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Agricultura de precisão, sensores e dados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Práticas conservacionistas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Sistemas agroecológicos e ILPF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Educação, participação e protagonismo dos atores locais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2310480" y="243000"/>
            <a:ext cx="6809040" cy="690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INOVAÇÃO E ADAPTAÇÃO CONTÍNUA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Aprendizado constante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600" spc="-1" strike="noStrike">
                <a:solidFill>
                  <a:srgbClr val="2d20b5"/>
                </a:solidFill>
                <a:latin typeface="Calibri"/>
                <a:ea typeface="Microsoft YaHei"/>
              </a:rPr>
              <a:t>Há vitórias que exaltam, outras que corrompem; derrotas que matam, outras que despertam. Antoine de Saint-Exupéry </a:t>
            </a:r>
            <a:endParaRPr b="0" lang="pt-BR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Cultura de experimentação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Agilidade e flexibilidade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Colaboração e compartilhamento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Foco em entregas e resultados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2665440" y="256320"/>
            <a:ext cx="5998320" cy="526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MISSÃO DO PRNS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Produzir alimentos de alta qualidade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Conservar solos e água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Melhorar a qualidade de vida no campo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Garantir sustentabilidade da produção agrícola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CustomShape 1"/>
          <p:cNvSpPr/>
          <p:nvPr/>
        </p:nvSpPr>
        <p:spPr>
          <a:xfrm>
            <a:off x="1293480" y="-69120"/>
            <a:ext cx="8237520" cy="648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2800" spc="-1" strike="noStrike">
                <a:solidFill>
                  <a:srgbClr val="006699"/>
                </a:solidFill>
                <a:latin typeface="Calibri"/>
                <a:ea typeface="DejaVu Sans"/>
              </a:rPr>
              <a:t>GRANDES EIXOS DE AÇÃO DO PRNS</a:t>
            </a:r>
            <a:endParaRPr b="0" lang="pt-BR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800" spc="-1" strike="noStrike"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1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Intensificação sustentável</a:t>
            </a:r>
            <a:endParaRPr b="0" lang="pt-BR" sz="2200" spc="-1" strike="noStrike"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1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Redesenho e substituição de sistemas</a:t>
            </a:r>
            <a:endParaRPr b="0" lang="pt-BR" sz="2200" spc="-1" strike="noStrike"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1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Conservação de solos e água</a:t>
            </a:r>
            <a:endParaRPr b="0" lang="pt-BR" sz="2200" spc="-1" strike="noStrike"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1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Adaptação e resiliência climática</a:t>
            </a:r>
            <a:endParaRPr b="0" lang="pt-BR" sz="2200" spc="-1" strike="noStrike"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1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Aumentar Carbono no solo</a:t>
            </a:r>
            <a:endParaRPr b="0" lang="pt-BR" sz="2200" spc="-1" strike="noStrike"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1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Reflorestamento e arborização</a:t>
            </a:r>
            <a:endParaRPr b="0" lang="pt-BR" sz="2200" spc="-1" strike="noStrike"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1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Reciclagem</a:t>
            </a:r>
            <a:endParaRPr b="0" lang="pt-BR" sz="2200" spc="-1" strike="noStrike"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1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Bioinsumos e MIP/MID/MIPD</a:t>
            </a:r>
            <a:endParaRPr b="0" lang="pt-BR" sz="2200" spc="-1" strike="noStrike"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1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Educação continuada</a:t>
            </a:r>
            <a:endParaRPr b="0" lang="pt-BR" sz="2200" spc="-1" strike="noStrike"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1" lang="pt-BR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Comunicação (interna e externa)</a:t>
            </a:r>
            <a:endParaRPr b="0" lang="pt-BR" sz="2200" spc="-1" strike="noStrike"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2381040" y="123120"/>
            <a:ext cx="6558120" cy="612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ESTRATÉGIA INTERNA E CONTEXTO ATUAL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Retorno dos problemas severos de erosão e contaminação da água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Redução da infiltração de água no solo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Crise hídrica histórica (2019–2021) </a:t>
            </a: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→ Vai retornar e com mais frequência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Microbacia como unidade-chave de gestão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2489760" y="256320"/>
            <a:ext cx="6566400" cy="569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NOVO PARADIGMA GLOBAL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Nova régua de valoração do agro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Sustentabilidade como fator de competitividade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Produção alinhada às demandas da sociedade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Grande oportunidade estratégica para o IDR-Paraná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799200" y="-39600"/>
            <a:ext cx="7527600" cy="569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pt-BR" sz="3200" spc="-1" strike="noStrike">
                <a:solidFill>
                  <a:srgbClr val="006699"/>
                </a:solidFill>
                <a:latin typeface="Calibri"/>
                <a:ea typeface="DejaVu Sans"/>
              </a:rPr>
              <a:t>   </a:t>
            </a:r>
            <a:r>
              <a:rPr b="1" lang="pt-BR" sz="3200" spc="-1" strike="noStrike">
                <a:solidFill>
                  <a:srgbClr val="006699"/>
                </a:solidFill>
                <a:latin typeface="Calibri"/>
                <a:ea typeface="DejaVu Sans"/>
              </a:rPr>
              <a:t>PRINCÍPIOS DO PRNS </a:t>
            </a:r>
            <a:endParaRPr b="0" lang="pt-BR" sz="3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200" spc="-1" strike="noStrike">
              <a:latin typeface="Arial"/>
            </a:endParaRPr>
          </a:p>
          <a:p>
            <a:pPr marL="216000" indent="-215280" algn="ctr">
              <a:lnSpc>
                <a:spcPct val="100000"/>
              </a:lnSpc>
              <a:buClr>
                <a:srgbClr val="006699"/>
              </a:buClr>
              <a:buFont typeface="StarSymbol"/>
              <a:buAutoNum type="romanUcPeriod"/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Microsoft YaHei"/>
              </a:rPr>
              <a:t>Sustentabilidade ambiental</a:t>
            </a:r>
            <a:endParaRPr b="0" lang="pt-BR" sz="1800" spc="-1" strike="noStrike">
              <a:latin typeface="Arial"/>
            </a:endParaRPr>
          </a:p>
          <a:p>
            <a:pPr marL="216000" indent="-215280" algn="ctr">
              <a:lnSpc>
                <a:spcPct val="200000"/>
              </a:lnSpc>
              <a:buClr>
                <a:srgbClr val="006699"/>
              </a:buClr>
              <a:buFont typeface="StarSymbol"/>
              <a:buAutoNum type="romanUcPeriod"/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Microsoft YaHei"/>
              </a:rPr>
              <a:t>Eficiência produtiva</a:t>
            </a:r>
            <a:endParaRPr b="0" lang="pt-BR" sz="1800" spc="-1" strike="noStrike">
              <a:latin typeface="Arial"/>
            </a:endParaRPr>
          </a:p>
          <a:p>
            <a:pPr marL="216000" indent="-215280" algn="ctr">
              <a:lnSpc>
                <a:spcPct val="200000"/>
              </a:lnSpc>
              <a:buClr>
                <a:srgbClr val="006699"/>
              </a:buClr>
              <a:buFont typeface="StarSymbol"/>
              <a:buAutoNum type="romanUcPeriod"/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Microsoft YaHei"/>
              </a:rPr>
              <a:t>Resiliência dos sistemas</a:t>
            </a:r>
            <a:endParaRPr b="0" lang="pt-BR" sz="1800" spc="-1" strike="noStrike">
              <a:latin typeface="Arial"/>
            </a:endParaRPr>
          </a:p>
          <a:p>
            <a:pPr marL="216000" indent="-215280" algn="ctr">
              <a:lnSpc>
                <a:spcPct val="200000"/>
              </a:lnSpc>
              <a:buClr>
                <a:srgbClr val="006699"/>
              </a:buClr>
              <a:buFont typeface="StarSymbol"/>
              <a:buAutoNum type="romanUcPeriod"/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Microsoft YaHei"/>
              </a:rPr>
              <a:t>Recuperação de áreas degradadas</a:t>
            </a:r>
            <a:endParaRPr b="0" lang="pt-BR" sz="1800" spc="-1" strike="noStrike">
              <a:latin typeface="Arial"/>
            </a:endParaRPr>
          </a:p>
          <a:p>
            <a:pPr marL="216000" indent="-215280" algn="ctr">
              <a:lnSpc>
                <a:spcPct val="200000"/>
              </a:lnSpc>
              <a:buClr>
                <a:srgbClr val="006699"/>
              </a:buClr>
              <a:buFont typeface="StarSymbol"/>
              <a:buAutoNum type="romanUcPeriod"/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Microsoft YaHei"/>
              </a:rPr>
              <a:t>Mitigação climática</a:t>
            </a:r>
            <a:endParaRPr b="0" lang="pt-BR" sz="1800" spc="-1" strike="noStrike">
              <a:latin typeface="Arial"/>
            </a:endParaRPr>
          </a:p>
          <a:p>
            <a:pPr marL="216000" indent="-215280" algn="ctr">
              <a:lnSpc>
                <a:spcPct val="200000"/>
              </a:lnSpc>
              <a:buClr>
                <a:srgbClr val="006699"/>
              </a:buClr>
              <a:buFont typeface="StarSymbol"/>
              <a:buAutoNum type="romanUcPeriod"/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Microsoft YaHei"/>
              </a:rPr>
              <a:t>Inovação tecnológica</a:t>
            </a:r>
            <a:endParaRPr b="0" lang="pt-BR" sz="1800" spc="-1" strike="noStrike">
              <a:latin typeface="Arial"/>
            </a:endParaRPr>
          </a:p>
          <a:p>
            <a:pPr marL="216000" indent="-215280" algn="ctr">
              <a:lnSpc>
                <a:spcPct val="200000"/>
              </a:lnSpc>
              <a:buClr>
                <a:srgbClr val="006699"/>
              </a:buClr>
              <a:buFont typeface="StarSymbol"/>
              <a:buAutoNum type="romanUcPeriod"/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Microsoft YaHei"/>
              </a:rPr>
              <a:t>Gestão baseada em dados</a:t>
            </a:r>
            <a:endParaRPr b="0" lang="pt-BR" sz="1800" spc="-1" strike="noStrike">
              <a:latin typeface="Arial"/>
            </a:endParaRPr>
          </a:p>
          <a:p>
            <a:pPr marL="216000" indent="-215280" algn="ctr">
              <a:lnSpc>
                <a:spcPct val="200000"/>
              </a:lnSpc>
              <a:buClr>
                <a:srgbClr val="006699"/>
              </a:buClr>
              <a:buFont typeface="StarSymbol"/>
              <a:buAutoNum type="romanUcPeriod"/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Microsoft YaHei"/>
              </a:rPr>
              <a:t>Valorização e agregação de valor</a:t>
            </a:r>
            <a:endParaRPr b="0" lang="pt-BR" sz="1800" spc="-1" strike="noStrike">
              <a:latin typeface="Arial"/>
            </a:endParaRPr>
          </a:p>
          <a:p>
            <a:pPr marL="216000" indent="-215280" algn="ctr">
              <a:lnSpc>
                <a:spcPct val="200000"/>
              </a:lnSpc>
              <a:buClr>
                <a:srgbClr val="006699"/>
              </a:buClr>
              <a:buFont typeface="StarSymbol"/>
              <a:buAutoNum type="romanUcPeriod"/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Microsoft YaHei"/>
              </a:rPr>
              <a:t>Participação social</a:t>
            </a:r>
            <a:endParaRPr b="0" lang="pt-BR" sz="1800" spc="-1" strike="noStrike">
              <a:latin typeface="Arial"/>
            </a:endParaRPr>
          </a:p>
          <a:p>
            <a:pPr marL="216000" indent="-215280" algn="ctr">
              <a:lnSpc>
                <a:spcPct val="200000"/>
              </a:lnSpc>
              <a:buClr>
                <a:srgbClr val="006699"/>
              </a:buClr>
              <a:buFont typeface="StarSymbol"/>
              <a:buAutoNum type="romanUcPeriod"/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Microsoft YaHei"/>
              </a:rPr>
              <a:t>Flexibilidade e adaptabilidade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ustomShape 1"/>
          <p:cNvSpPr/>
          <p:nvPr/>
        </p:nvSpPr>
        <p:spPr>
          <a:xfrm>
            <a:off x="2163960" y="83160"/>
            <a:ext cx="5114880" cy="828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CRITÉRIOS DO PRNS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Conservar solos e água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Reduzir penosidade do trabalho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Recuperar APPs e Reservas Legais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Irrigação eficiente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Intensificação sustentável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Resiliência produtiva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Neutralização de GEE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Manejo integrado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Agroindustrialização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Cooperativismo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33" dur="indefinite" restart="never" nodeType="tmRoot">
          <p:childTnLst>
            <p:seq>
              <p:cTn id="3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ustomShape 1"/>
          <p:cNvSpPr/>
          <p:nvPr/>
        </p:nvSpPr>
        <p:spPr>
          <a:xfrm>
            <a:off x="2158920" y="641160"/>
            <a:ext cx="6984360" cy="454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INDICADORES E MONITORAMENTO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Checklist PRNS – Marco Zero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Pontuação de 0 a 60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Classificação: Bronze, Prata e Ouro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Monitoramento contínuo e evolução anual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Ajustes checklist’s por atividade (Certificação)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35" dur="indefinite" restart="never" nodeType="tmRoot">
          <p:childTnLst>
            <p:seq>
              <p:cTn id="3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2222280" y="335160"/>
            <a:ext cx="6825600" cy="742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PRNS E AS MUDANÇAS CLIMÁTICAS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Impacto zero global → impossível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Impacto zero local → possível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Resiliência hídrica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Neutralização de emissões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Redução de perdas produtivas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37" dur="indefinite" restart="never" nodeType="tmRoot">
          <p:childTnLst>
            <p:seq>
              <p:cTn id="3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/>
          <p:cNvSpPr/>
          <p:nvPr/>
        </p:nvSpPr>
        <p:spPr>
          <a:xfrm>
            <a:off x="2314440" y="265320"/>
            <a:ext cx="6641640" cy="474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PRNS: UMA PONTE ENTRE CAMPO E CIDADE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Água limpa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Alimentos seguros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Estabilidade econômica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Qualidade de vida urbana e rural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39" dur="indefinite" restart="never" nodeType="tmRoot">
          <p:childTnLst>
            <p:seq>
              <p:cTn id="4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2105280" y="186840"/>
            <a:ext cx="6884280" cy="64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O QUE QUEREMOS?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O PRNS não é apenas um programa.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É um pacto coletivo pelo futuro do Paraná.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Técnicos como líderes da transformação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Produtores como protagonistas</a:t>
            </a: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Microsoft YaHei"/>
              </a:rPr>
              <a:t>Sociedade como beneficiária direta</a:t>
            </a:r>
            <a:endParaRPr b="0" lang="pt-BR" sz="2600" spc="-1" strike="noStrike">
              <a:latin typeface="Arial"/>
            </a:endParaRPr>
          </a:p>
        </p:txBody>
      </p:sp>
    </p:spTree>
  </p:cSld>
  <p:timing>
    <p:tnLst>
      <p:par>
        <p:cTn id="41" dur="indefinite" restart="never" nodeType="tmRoot">
          <p:childTnLst>
            <p:seq>
              <p:cTn id="4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Imagem 4" descr=""/>
          <p:cNvPicPr/>
          <p:nvPr/>
        </p:nvPicPr>
        <p:blipFill>
          <a:blip r:embed="rId1"/>
          <a:stretch/>
        </p:blipFill>
        <p:spPr>
          <a:xfrm>
            <a:off x="0" y="2203200"/>
            <a:ext cx="9143280" cy="3191040"/>
          </a:xfrm>
          <a:prstGeom prst="rect">
            <a:avLst/>
          </a:prstGeom>
          <a:ln>
            <a:noFill/>
          </a:ln>
        </p:spPr>
      </p:pic>
      <p:sp>
        <p:nvSpPr>
          <p:cNvPr id="65" name="CustomShape 1"/>
          <p:cNvSpPr/>
          <p:nvPr/>
        </p:nvSpPr>
        <p:spPr>
          <a:xfrm>
            <a:off x="3031560" y="1057680"/>
            <a:ext cx="2827080" cy="50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pt-BR" sz="2800" spc="-1" strike="noStrike">
                <a:solidFill>
                  <a:srgbClr val="000000"/>
                </a:solidFill>
                <a:latin typeface="Cambria"/>
                <a:ea typeface="DejaVu Sans"/>
              </a:rPr>
              <a:t>ORGANOGRAMA</a:t>
            </a:r>
            <a:endParaRPr b="0" lang="pt-BR" sz="2800" spc="-1" strike="noStrike">
              <a:latin typeface="Arial"/>
            </a:endParaRPr>
          </a:p>
        </p:txBody>
      </p:sp>
    </p:spTree>
  </p:cSld>
  <p:timing>
    <p:tnLst>
      <p:par>
        <p:cTn id="43" dur="indefinite" restart="never" nodeType="tmRoot">
          <p:childTnLst>
            <p:seq>
              <p:cTn id="4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ustomShape 1"/>
          <p:cNvSpPr/>
          <p:nvPr/>
        </p:nvSpPr>
        <p:spPr>
          <a:xfrm>
            <a:off x="3467520" y="274680"/>
            <a:ext cx="521784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PRNS – Água Segura: Da Análise à Entrega Territorial</a:t>
            </a:r>
            <a:endParaRPr b="0" lang="pt-BR" sz="3400" spc="-1" strike="noStrike">
              <a:latin typeface="Arial"/>
            </a:endParaRPr>
          </a:p>
        </p:txBody>
      </p:sp>
      <p:sp>
        <p:nvSpPr>
          <p:cNvPr id="67" name="CustomShape 2"/>
          <p:cNvSpPr/>
          <p:nvPr/>
        </p:nvSpPr>
        <p:spPr>
          <a:xfrm>
            <a:off x="2905200" y="1942560"/>
            <a:ext cx="5206680" cy="134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Ponto de virada do PRNS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Conclusão dos diagnósticos das microbacias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Início da fase de execução territorial</a:t>
            </a:r>
            <a:endParaRPr b="0" lang="pt-BR" sz="2800" spc="-1" strike="noStrike">
              <a:latin typeface="Arial"/>
            </a:endParaRPr>
          </a:p>
        </p:txBody>
      </p:sp>
    </p:spTree>
  </p:cSld>
  <p:timing>
    <p:tnLst>
      <p:par>
        <p:cTn id="45" dur="indefinite" restart="never" nodeType="tmRoot">
          <p:childTnLst>
            <p:seq>
              <p:cTn id="4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ustomShape 1"/>
          <p:cNvSpPr/>
          <p:nvPr/>
        </p:nvSpPr>
        <p:spPr>
          <a:xfrm>
            <a:off x="3751560" y="274680"/>
            <a:ext cx="493380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Onde estamos hoje</a:t>
            </a:r>
            <a:endParaRPr b="0" lang="pt-BR" sz="3400" spc="-1" strike="noStrike">
              <a:latin typeface="Arial"/>
            </a:endParaRPr>
          </a:p>
        </p:txBody>
      </p:sp>
      <p:sp>
        <p:nvSpPr>
          <p:cNvPr id="69" name="CustomShape 2"/>
          <p:cNvSpPr/>
          <p:nvPr/>
        </p:nvSpPr>
        <p:spPr>
          <a:xfrm>
            <a:off x="3200040" y="1551240"/>
            <a:ext cx="5137560" cy="168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Diagnósticos das microbacias concluídos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Abrangência territorial consolidada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Investimento público já realizado e orçamento pronto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Expectativa criada junto aos territórios</a:t>
            </a:r>
            <a:endParaRPr b="0" lang="pt-BR" sz="2800" spc="-1" strike="noStrike">
              <a:latin typeface="Arial"/>
            </a:endParaRPr>
          </a:p>
        </p:txBody>
      </p:sp>
    </p:spTree>
  </p:cSld>
  <p:timing>
    <p:tnLst>
      <p:par>
        <p:cTn id="47" dur="indefinite" restart="never" nodeType="tmRoot">
          <p:childTnLst>
            <p:seq>
              <p:cTn id="4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3759840" y="274680"/>
            <a:ext cx="492552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O risco institucional neste momento</a:t>
            </a:r>
            <a:endParaRPr b="0" lang="pt-BR" sz="3400" spc="-1" strike="noStrike">
              <a:latin typeface="Arial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3141720" y="2193120"/>
            <a:ext cx="5543640" cy="1631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283c50"/>
                </a:solidFill>
                <a:latin typeface="Calibri"/>
                <a:ea typeface="DejaVu Sans"/>
              </a:rPr>
              <a:t>Bom diagnóstico sem entrega concreta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283c50"/>
                </a:solidFill>
                <a:latin typeface="Calibri"/>
                <a:ea typeface="DejaVu Sans"/>
              </a:rPr>
              <a:t>Dispersão de ações nas regiões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283c50"/>
                </a:solidFill>
                <a:latin typeface="Calibri"/>
                <a:ea typeface="DejaVu Sans"/>
              </a:rPr>
              <a:t>Baixa visibilidade de resultados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283c50"/>
                </a:solidFill>
                <a:latin typeface="Calibri"/>
                <a:ea typeface="DejaVu Sans"/>
              </a:rPr>
              <a:t>Risco de questionamentos institucionais</a:t>
            </a:r>
            <a:endParaRPr b="0" lang="pt-BR" sz="2800" spc="-1" strike="noStrike">
              <a:latin typeface="Arial"/>
            </a:endParaRPr>
          </a:p>
        </p:txBody>
      </p:sp>
    </p:spTree>
  </p:cSld>
  <p:timing>
    <p:tnLst>
      <p:par>
        <p:cTn id="49" dur="indefinite" restart="never" nodeType="tmRoot">
          <p:childTnLst>
            <p:seq>
              <p:cTn id="5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4177800" y="274680"/>
            <a:ext cx="450756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O desafio central</a:t>
            </a:r>
            <a:endParaRPr b="0" lang="pt-BR" sz="3400" spc="-1" strike="noStrike">
              <a:latin typeface="Arial"/>
            </a:endParaRPr>
          </a:p>
        </p:txBody>
      </p:sp>
      <p:sp>
        <p:nvSpPr>
          <p:cNvPr id="73" name="CustomShape 2"/>
          <p:cNvSpPr/>
          <p:nvPr/>
        </p:nvSpPr>
        <p:spPr>
          <a:xfrm>
            <a:off x="2289240" y="2218320"/>
            <a:ext cx="6532920" cy="122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283c50"/>
                </a:solidFill>
                <a:latin typeface="Calibri"/>
                <a:ea typeface="DejaVu Sans"/>
              </a:rPr>
              <a:t>O desafio não é técnico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283c50"/>
                </a:solidFill>
                <a:latin typeface="Calibri"/>
                <a:ea typeface="DejaVu Sans"/>
              </a:rPr>
              <a:t>Necessidade de coordenação e foco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283c50"/>
                </a:solidFill>
                <a:latin typeface="Calibri"/>
                <a:ea typeface="DejaVu Sans"/>
              </a:rPr>
              <a:t>Organização da execução da extensão rural</a:t>
            </a:r>
            <a:endParaRPr b="0" lang="pt-BR" sz="2800" spc="-1" strike="noStrike">
              <a:latin typeface="Arial"/>
            </a:endParaRPr>
          </a:p>
        </p:txBody>
      </p:sp>
    </p:spTree>
  </p:cSld>
  <p:timing>
    <p:tnLst>
      <p:par>
        <p:cTn id="51" dur="indefinite" restart="never" nodeType="tmRoot">
          <p:childTnLst>
            <p:seq>
              <p:cTn id="5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3826800" y="274680"/>
            <a:ext cx="485856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Modelo de Execução do PRNS – Proposta</a:t>
            </a:r>
            <a:endParaRPr b="0" lang="pt-BR" sz="3400" spc="-1" strike="noStrike">
              <a:latin typeface="Arial"/>
            </a:endParaRPr>
          </a:p>
        </p:txBody>
      </p:sp>
      <p:sp>
        <p:nvSpPr>
          <p:cNvPr id="75" name="CustomShape 2"/>
          <p:cNvSpPr/>
          <p:nvPr/>
        </p:nvSpPr>
        <p:spPr>
          <a:xfrm>
            <a:off x="2239200" y="2076480"/>
            <a:ext cx="6633360" cy="196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Execução Regional por microbacias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Unidades de Referência como eixo da extensão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Planejamento semestral de ações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Monitoramento por indicadores simples (Checklist)</a:t>
            </a:r>
            <a:endParaRPr b="0" lang="pt-BR" sz="2800" spc="-1" strike="noStrike">
              <a:latin typeface="Arial"/>
            </a:endParaRPr>
          </a:p>
        </p:txBody>
      </p:sp>
    </p:spTree>
  </p:cSld>
  <p:timing>
    <p:tnLst>
      <p:par>
        <p:cTn id="53" dur="indefinite" restart="never" nodeType="tmRoot">
          <p:childTnLst>
            <p:seq>
              <p:cTn id="5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735000" y="274680"/>
            <a:ext cx="495036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Extensão Rural como Instrumento Central</a:t>
            </a:r>
            <a:endParaRPr b="0" lang="pt-BR" sz="3400" spc="-1" strike="noStrike"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2021760" y="2393640"/>
            <a:ext cx="6767280" cy="1423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Atuação planejada e estratégica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Educação continuada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Redução da dispersão de esforços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Mais impacto com a estrutura existente</a:t>
            </a:r>
            <a:endParaRPr b="0" lang="pt-BR" sz="2800" spc="-1" strike="noStrike">
              <a:latin typeface="Arial"/>
            </a:endParaRPr>
          </a:p>
        </p:txBody>
      </p:sp>
    </p:spTree>
  </p:cSld>
  <p:timing>
    <p:tnLst>
      <p:par>
        <p:cTn id="55" dur="indefinite" restart="never" nodeType="tmRoot">
          <p:childTnLst>
            <p:seq>
              <p:cTn id="5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3818520" y="274680"/>
            <a:ext cx="486684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Governança e Segurança Institucional</a:t>
            </a:r>
            <a:endParaRPr b="0" lang="pt-BR" sz="3400" spc="-1" strike="noStrike">
              <a:latin typeface="Arial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1879920" y="2226960"/>
            <a:ext cx="7067880" cy="17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Coordenação estadual clara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Gestão regional como articuladora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Execução técnica definida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Rastreabilidade e controle dos resultados</a:t>
            </a:r>
            <a:endParaRPr b="0" lang="pt-BR" sz="2800" spc="-1" strike="noStrike">
              <a:latin typeface="Arial"/>
            </a:endParaRPr>
          </a:p>
        </p:txBody>
      </p:sp>
    </p:spTree>
  </p:cSld>
  <p:timing>
    <p:tnLst>
      <p:par>
        <p:cTn id="57" dur="indefinite" restart="never" nodeType="tmRoot">
          <p:childTnLst>
            <p:seq>
              <p:cTn id="5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3566880" y="274680"/>
            <a:ext cx="429048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O que muda na prática</a:t>
            </a:r>
            <a:endParaRPr b="0" lang="pt-BR" sz="3400" spc="-1" strike="noStrike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1804680" y="2535840"/>
            <a:ext cx="7259760" cy="154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Antes: ações isoladas e atendimento pontual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Depois: planejamento territorial e ações demonstrativas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Resultados mensuráveis e comunicáveis</a:t>
            </a:r>
            <a:endParaRPr b="0" lang="pt-BR" sz="2800" spc="-1" strike="noStrike">
              <a:latin typeface="Arial"/>
            </a:endParaRPr>
          </a:p>
        </p:txBody>
      </p:sp>
    </p:spTree>
  </p:cSld>
  <p:timing>
    <p:tnLst>
      <p:par>
        <p:cTn id="59" dur="indefinite" restart="never" nodeType="tmRoot">
          <p:childTnLst>
            <p:seq>
              <p:cTn id="6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2655360" y="274680"/>
            <a:ext cx="437400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O papel da Diretoria e da Chefia de Departamento</a:t>
            </a:r>
            <a:endParaRPr b="0" lang="pt-BR" sz="3400" spc="-1" strike="noStrike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2272680" y="2201400"/>
            <a:ext cx="6491160" cy="1557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Validar o modelo de execução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Respaldar a priorização territorial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Apoiar institucionalmente as regiões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Legitimar o foco em resultados</a:t>
            </a:r>
            <a:endParaRPr b="0" lang="pt-BR" sz="2800" spc="-1" strike="noStrike">
              <a:latin typeface="Arial"/>
            </a:endParaRPr>
          </a:p>
        </p:txBody>
      </p:sp>
    </p:spTree>
  </p:cSld>
  <p:timing>
    <p:tnLst>
      <p:par>
        <p:cTn id="61" dur="indefinite" restart="never" nodeType="tmRoot">
          <p:childTnLst>
            <p:seq>
              <p:cTn id="6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2637360" y="274680"/>
            <a:ext cx="460800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Ganhos institucionais</a:t>
            </a:r>
            <a:endParaRPr b="0" lang="pt-BR" sz="3400" spc="-1" strike="noStrike"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2172240" y="1825920"/>
            <a:ext cx="6792120" cy="167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PRNS consolidado como política estruturante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Maior efetividade do investimento público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Segurança institucional e visibilidade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Legado para o Estado</a:t>
            </a:r>
            <a:endParaRPr b="0" lang="pt-BR" sz="2800" spc="-1" strike="noStrike">
              <a:latin typeface="Arial"/>
            </a:endParaRPr>
          </a:p>
        </p:txBody>
      </p:sp>
    </p:spTree>
  </p:cSld>
  <p:timing>
    <p:tnLst>
      <p:par>
        <p:cTn id="63" dur="indefinite" restart="never" nodeType="tmRoot">
          <p:childTnLst>
            <p:seq>
              <p:cTn id="6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2657880" y="274680"/>
            <a:ext cx="487548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Próximos passos (90 dias)</a:t>
            </a:r>
            <a:endParaRPr b="0" lang="pt-BR" sz="3400" spc="-1" strike="noStrike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2272320" y="2126880"/>
            <a:ext cx="6488280" cy="159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Definição das Unidades de Referência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Planejamento das ações por microbacia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Alinhamento regional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Início da execução monitorada</a:t>
            </a:r>
            <a:endParaRPr b="0" lang="pt-BR" sz="2800" spc="-1" strike="noStrike">
              <a:latin typeface="Arial"/>
            </a:endParaRPr>
          </a:p>
        </p:txBody>
      </p:sp>
    </p:spTree>
  </p:cSld>
  <p:timing>
    <p:tnLst>
      <p:par>
        <p:cTn id="65" dur="indefinite" restart="never" nodeType="tmRoot">
          <p:childTnLst>
            <p:seq>
              <p:cTn id="6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2731320" y="454680"/>
            <a:ext cx="512604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PRNS – Planejamento que vira entrega</a:t>
            </a:r>
            <a:endParaRPr b="0" lang="pt-BR" sz="3400" spc="-1" strike="noStrike"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2163960" y="2502360"/>
            <a:ext cx="6892200" cy="128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Programa tecnicamente maduro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Necessidade de alinhamento institucional</a:t>
            </a:r>
            <a:endParaRPr b="0" lang="pt-BR" sz="2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00"/>
              </a:spcBef>
              <a:buClr>
                <a:srgbClr val="283c50"/>
              </a:buClr>
              <a:buFont typeface="Arial"/>
              <a:buChar char="•"/>
            </a:pPr>
            <a:r>
              <a:rPr b="1" lang="pt-BR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Entrega concreta no Estado</a:t>
            </a:r>
            <a:endParaRPr b="0" lang="pt-BR" sz="2800" spc="-1" strike="noStrike">
              <a:latin typeface="Arial"/>
            </a:endParaRPr>
          </a:p>
        </p:txBody>
      </p:sp>
    </p:spTree>
  </p:cSld>
  <p:timing>
    <p:tnLst>
      <p:par>
        <p:cTn id="67" dur="indefinite" restart="never" nodeType="tmRoot">
          <p:childTnLst>
            <p:seq>
              <p:cTn id="6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2131920" y="855720"/>
            <a:ext cx="6929280" cy="1113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CALENDÁRIO DE AÇÕES INICIAIS  PRNS ÁGUA SEGURA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Período: Fevereiro/2026 → Julho/2027 (18 meses)</a:t>
            </a:r>
            <a:endParaRPr b="0" lang="pt-BR" sz="3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3400" spc="-1" strike="noStrike">
                <a:solidFill>
                  <a:srgbClr val="006699"/>
                </a:solidFill>
                <a:latin typeface="Calibri"/>
                <a:ea typeface="DejaVu Sans"/>
              </a:rPr>
              <a:t>Base territorial: Microbacias hidrográficas</a:t>
            </a:r>
            <a:endParaRPr b="0" lang="pt-BR" sz="3400" spc="-1" strike="noStrike">
              <a:latin typeface="Arial"/>
            </a:endParaRPr>
          </a:p>
        </p:txBody>
      </p:sp>
    </p:spTree>
  </p:cSld>
  <p:timing>
    <p:tnLst>
      <p:par>
        <p:cTn id="69" dur="indefinite" restart="never" nodeType="tmRoot">
          <p:childTnLst>
            <p:seq>
              <p:cTn id="7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2535120" y="166680"/>
            <a:ext cx="6454440" cy="623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FASE 1 – ORGANIZAÇÃO E ALINHAMENTO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Fevereiro – Março/2026 (Meses 1–2)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Instituição da governança estadual e regional do PRNS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Alinhamento conceitual e estratégico do PRNS Água Segura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Consolidação dos diagnósticos já existentes das microbacias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Priorização das microbacias de atuação em 2026–2027 (100)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Definição das Unidades de Referência Tecnológica (URTs) e Unidades Demonstrativas (400)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Padronização final do Checklist PRNS e inserção no GETEC (Marco Zero)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Capacitação/atualização geral dos Chefes Regionais, técnicos referenciais e residentes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Lançamento interno da estratégia de comunicação do PRNS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Entregas-chave: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Governança definida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Microbacias e URTs selecionadas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Metodologia única validada</a:t>
            </a:r>
            <a:endParaRPr b="0" lang="pt-BR" sz="1500" spc="-1" strike="noStrike">
              <a:latin typeface="Arial"/>
            </a:endParaRPr>
          </a:p>
        </p:txBody>
      </p:sp>
    </p:spTree>
  </p:cSld>
  <p:timing>
    <p:tnLst>
      <p:par>
        <p:cTn id="71" dur="indefinite" restart="never" nodeType="tmRoot">
          <p:childTnLst>
            <p:seq>
              <p:cTn id="7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2541240" y="377640"/>
            <a:ext cx="6314040" cy="520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FASE 2 – DIAGNÓSTICO E MARCO ZERO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Abril – Junho/2026 (Meses 3–5)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Aplicação do Checklist PRNS (Marco Zero) nas propriedades selecionadas como URs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Levantamento de passivos ambientais (solo, água, APPs, estradas rurais) em cada microbacia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Classificação inicial das propriedades (Bronze / Prata / Ouro)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Consolidação dos dados por microbacia (Dashboard)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Construção da linha de base estadual de sustentabilidade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Identificação das ações prioritárias por propriedade e microbacia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Entregas-chave: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Diagnóstico mensurável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Linha de base consolidada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Prioridades técnicas definidas</a:t>
            </a:r>
            <a:endParaRPr b="0" lang="pt-BR" sz="1600" spc="-1" strike="noStrike">
              <a:latin typeface="Arial"/>
            </a:endParaRPr>
          </a:p>
        </p:txBody>
      </p:sp>
    </p:spTree>
  </p:cSld>
  <p:timing>
    <p:tnLst>
      <p:par>
        <p:cTn id="73" dur="indefinite" restart="never" nodeType="tmRoot">
          <p:childTnLst>
            <p:seq>
              <p:cTn id="7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2584800" y="478080"/>
            <a:ext cx="6558480" cy="520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FASE 3 – PLANEJAMENTO TÁTICO OPERACIONAL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Julho – Agosto/2026 (Meses 6–7)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Elaboração dos planos de ação detalhados por microbacia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Definição de metas técnicas por critério do PRNS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Pactuação dos planos com produtores rurais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Planejamento das ações de extensão rural (visitas, reuniões com as comunidades rurais e urbanas, dias de campo, capacitações)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Articulação operacional com parceiros (Sanepar, IAT, ADAPAR, prefeituras, cooperativas, etc.)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Planejamento de mecanização, patrulhas agrícolas e logística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Entregas-chave: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Planos de ação territoriais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Metas pactuadas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Parcerias operacionais ativas</a:t>
            </a:r>
            <a:endParaRPr b="0" lang="pt-BR" sz="1600" spc="-1" strike="noStrike">
              <a:latin typeface="Arial"/>
            </a:endParaRPr>
          </a:p>
        </p:txBody>
      </p:sp>
    </p:spTree>
  </p:cSld>
  <p:timing>
    <p:tnLst>
      <p:par>
        <p:cTn id="75" dur="indefinite" restart="never" nodeType="tmRoot">
          <p:childTnLst>
            <p:seq>
              <p:cTn id="7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2615400" y="267840"/>
            <a:ext cx="6777360" cy="7000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FASE 4 – IMPLEMENTAÇÃO EM CAMPO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Setembro/2026 – Abril/2027 (Meses 8–15)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Conservação de solos e água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Implantação de terraceamento e práticas conservacionistas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Ampliação da cobertura permanente do solo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Proteção e recuperação de nascentes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Intensificação sustentável (redesenho de sistemas de produção)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Implantação de ILPF, rotações e consórcios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Recuperação de pastagens degradadas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Uso equilibrado de insumos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Reservação de Água e irrigação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Implantação de irrigação eficiente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Regularização do uso da água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  <a:ea typeface="DejaVu Sans"/>
              </a:rPr>
              <a:t>Manejo racional de lâminas d´água</a:t>
            </a:r>
            <a:endParaRPr b="0" lang="pt-BR" sz="1500" spc="-1" strike="noStrike">
              <a:latin typeface="Arial"/>
            </a:endParaRPr>
          </a:p>
        </p:txBody>
      </p:sp>
    </p:spTree>
  </p:cSld>
  <p:timing>
    <p:tnLst>
      <p:par>
        <p:cTn id="77" dur="indefinite" restart="never" nodeType="tmRoot">
          <p:childTnLst>
            <p:seq>
              <p:cTn id="7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2914920" y="295200"/>
            <a:ext cx="5834160" cy="674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Recuperação ambiental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Cercamento e recuperação de APPs e Reservas Legais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Reflorestamento e arborização funcional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Estradas rurais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Adequação conservacionista e drenagem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Fitossanidade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Implantação do MIP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Uso de bioinsumos e controle biológico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Agregação de valor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Apoio à agroindustrialização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Fortalecimento do cooperativismo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Entregas-chave: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Ações visíveis no território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Sistemas mais resilientes</a:t>
            </a:r>
            <a:endParaRPr b="0" lang="pt-BR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Ganhos produtivos e ambientais</a:t>
            </a:r>
            <a:endParaRPr b="0" lang="pt-BR" sz="1400" spc="-1" strike="noStrike">
              <a:latin typeface="Arial"/>
            </a:endParaRPr>
          </a:p>
        </p:txBody>
      </p:sp>
    </p:spTree>
  </p:cSld>
  <p:timing>
    <p:tnLst>
      <p:par>
        <p:cTn id="79" dur="indefinite" restart="never" nodeType="tmRoot">
          <p:childTnLst>
            <p:seq>
              <p:cTn id="8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2341440" y="137160"/>
            <a:ext cx="5882760" cy="546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FASE 5 – MONITORAMENTO E AJUSTES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Janeiro – Maio/2027 (Meses 12–16)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(fase sobreposta à implementação)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Reaplicação (Marco 1) do Checklist PRNS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Avaliação da evolução das propriedades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Reclassificação (Bronze → Prata → Ouro)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Ajustes técnicos e correções de rota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Monitoramento de indicadores de solo, água e produção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Sistematização de experiências exitosas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Entregas-chave: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Evolução comprovada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Correções baseadas em dados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institucional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81" dur="indefinite" restart="never" nodeType="tmRoot">
          <p:childTnLst>
            <p:seq>
              <p:cTn id="8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2683080" y="36000"/>
            <a:ext cx="6414840" cy="520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FASE 6 – CONSOLIDAÇÃO E ESCALA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Junho – Julho/2027 (Meses 17–18)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Consolidação do PRNS como política institucional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Certificação simplificada PRNS para propriedades avançadas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Planejamento da expansão para novas microbacias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Divulgação dos resultados (institucional, técnica e sociedade)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Integração com agendas ESG, PSA e clima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Elaboração do Relatório Final do Ciclo 2026–2027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Entregas-chave: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PRNS consolidado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Resultados comunicados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✔ 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Escala preparada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83" dur="indefinite" restart="never" nodeType="tmRoot">
          <p:childTnLst>
            <p:seq>
              <p:cTn id="8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2815920" y="835920"/>
            <a:ext cx="5993640" cy="418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2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VISÃO SINTÉTICA DO CRONOGRAMA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2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Período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Foco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2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Fev–Mar/26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Organização e alinhamento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2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Abr–Jun/26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Diagnóstico e marco zero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2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Jul–Ago/26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Planejamento tático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2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Set/26–Abr/27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Implementação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2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Jan–Mai/27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Monitoramento e ajustes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2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Jun–Jul/27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Consolidação e escala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85" dur="indefinite" restart="never" nodeType="tmRoot">
          <p:childTnLst>
            <p:seq>
              <p:cTn id="8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2517480" y="514440"/>
            <a:ext cx="6594480" cy="3929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PRINCÍPIOS DA GOVERNANÇA DO PRNS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Antes da estrutura, alguns princípios orientadores: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Simplicidade → pouca burocracia, foco em decisão e execução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Clareza de papéis → cada nível sabe exatamente o que faz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Territorialidade → microbacia como unidade de ação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Base técnica → decisões ancoradas em dados e diagnósticos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Integração → solo, água, produção, clima, renda e sociedade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Transparência → metas, indicadores e resultados claros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87" dur="indefinite" restart="never" nodeType="tmRoot">
          <p:childTnLst>
            <p:seq>
              <p:cTn id="8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2349360" y="91440"/>
            <a:ext cx="7836480" cy="664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GOVERNANÇA EM TRÊS NÍVEIS (ENXUTA E EFETIVA)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🔹 </a:t>
            </a: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NÍVEL 1 – FÓRUM ESTADUAL DO PRNS (ESTRATÉGICO)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Função: Direção estratégica, legitimidade institucional e articulação política.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Composição sugerida: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Diretoria e Chefia do departamento de sustentabilidade do IDR-Paraná (DEX)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Coordenação Estadual do PRNS + 4 Chefes regionais (José Jaime, Maurício, Laís e Rosane)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Representante da SEAB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Representante da Sanepar (estratégico)+ Representantes do IAT, ADAPAR e SIMEPAR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Convidados estratégicos (universidades, pesquisa, parceiros)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Principais atribuições: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Definir diretrizes estratégicas do PRNS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Aprovar metas estaduais e prioridades territoriais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Validar metodologias, critérios e indicadores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Deliberar sobre parcerias estratégicas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Avaliar resultados anuais e decidir ajustes de rumo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Ritmo de funcionamento: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Reuniões mensais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Decisões estratégicas e institucionais (não operacionais)</a:t>
            </a:r>
            <a:endParaRPr b="0" lang="pt-BR" sz="1200" spc="-1" strike="noStrike">
              <a:latin typeface="Arial"/>
            </a:endParaRPr>
          </a:p>
        </p:txBody>
      </p:sp>
    </p:spTree>
  </p:cSld>
  <p:timing>
    <p:tnLst>
      <p:par>
        <p:cTn id="89" dur="indefinite" restart="never" nodeType="tmRoot">
          <p:childTnLst>
            <p:seq>
              <p:cTn id="9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2437200" y="109440"/>
            <a:ext cx="7390080" cy="643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NÍVEL 2 – COORDENAÇÃO ESTADUAL DO PRNS (TÁTICO)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Função: Cérebro técnico-operacional do programa.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Perfil: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1 Assessor/Coordenador Estadual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2–4 técnicos de referência (solo/água, produção, extensão, dados)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Principais atribuições: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Traduzir a estratégia em planos operacionais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Padronizar metodologias (Checklist PRNS, indicadores, relatórios)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Definir critérios para escolha de microbacias e URTs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Consolidar dados estaduais e gerar painéis de monitoramento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Apoiar tecnicamente os regionais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Articular parceiros em nível estadual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Produzir relatórios técnicos e institucionais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Ritmo de funcionamento: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Reuniões mensais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Atuação contínua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👉 </a:t>
            </a: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Esse é o núcleo que garante coerência, qualidade técnica e escala.</a:t>
            </a:r>
            <a:endParaRPr b="0" lang="pt-BR" sz="1200" spc="-1" strike="noStrike">
              <a:latin typeface="Arial"/>
            </a:endParaRPr>
          </a:p>
        </p:txBody>
      </p:sp>
    </p:spTree>
  </p:cSld>
  <p:timing>
    <p:tnLst>
      <p:par>
        <p:cTn id="91" dur="indefinite" restart="never" nodeType="tmRoot">
          <p:childTnLst>
            <p:seq>
              <p:cTn id="9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2463120" y="91800"/>
            <a:ext cx="6580800" cy="676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NÍVEL 3 – COMITÊ REGIONAL DO PRNS (OPERACIONAL)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Função: Execução territorial e entrega de resultados.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Base territorial: Regional do IDR-Paraná / conjunto de microbacias.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Composição sugerida: Gerente Regional do IDR-Paraná, Técnico Referencial do PRNS (líder técnico), Técnicos extensionistas das microbacias, Residentes técnicos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Representantes locais (prefeitura, cooperativas, associações – quando pertinente)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Principais atribuições: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Executar o PRNS nas microbacias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Selecionar e acompanhar URTs e Unidades Multiplicadoras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Aplicar o Checklist PRNS (Marco Zero e monitoramentos)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Implementar planos de ação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Registrar dados, fotos, indicadores e resultados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Mobilizar produtores e parceiros locais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Reportar avanços à Coordenação Estadual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Ritmo de funcionamento: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Reuniões bimestrais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Forte atuação em campo</a:t>
            </a:r>
            <a:endParaRPr b="0" lang="pt-BR" sz="1200" spc="-1" strike="noStrike">
              <a:latin typeface="Arial"/>
            </a:endParaRPr>
          </a:p>
        </p:txBody>
      </p:sp>
    </p:spTree>
  </p:cSld>
  <p:timing>
    <p:tnLst>
      <p:par>
        <p:cTn id="93" dur="indefinite" restart="never" nodeType="tmRoot">
          <p:childTnLst>
            <p:seq>
              <p:cTn id="9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2786400" y="75240"/>
            <a:ext cx="6002640" cy="561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PAPÉIS-CHAVE DENTRO DA GOVERNANÇA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🔹</a:t>
            </a: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Coordenador Estadual do PRNS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Lidera o programa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Faz a ponte Diretoria ↔ campo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Garante foco, ritmo e coerência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Representa o PRNS institucionalmente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🔹 </a:t>
            </a: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Técnico Referencial Regional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 o líder técnico do PRNS na região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Coordena tecnicamente as microbacias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Orienta extensionistas e residentes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Garante qualidade técnica das ações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🔹 </a:t>
            </a: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Extensionistas e Residentes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Executores diretos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Aplicam diagnósticos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Implementam práticas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Acompanham produtores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Geram dados e resultados</a:t>
            </a:r>
            <a:endParaRPr b="0" lang="pt-BR" sz="1200" spc="-1" strike="noStrike">
              <a:latin typeface="Arial"/>
            </a:endParaRPr>
          </a:p>
        </p:txBody>
      </p:sp>
    </p:spTree>
  </p:cSld>
  <p:timing>
    <p:tnLst>
      <p:par>
        <p:cTn id="95" dur="indefinite" restart="never" nodeType="tmRoot">
          <p:childTnLst>
            <p:seq>
              <p:cTn id="9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2522160" y="666720"/>
            <a:ext cx="6208200" cy="418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MICROBACIA COMO UNIDADE DE GOVERNANÇA OPERACIONAL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Em cada microbacia: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1 Técnico responsável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Propriedades-referência (URTs)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Unidades multiplicadoras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Plano de ação próprio (por microbacia e por propriedade)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Metas claras (solo, água, produção, renda)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000000"/>
                </a:solidFill>
                <a:latin typeface="Calibri"/>
                <a:ea typeface="DejaVu Sans"/>
              </a:rPr>
              <a:t>→ 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 microbacia é onde o PRNS acontece de verdade.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97" dur="indefinite" restart="never" nodeType="tmRoot">
          <p:childTnLst>
            <p:seq>
              <p:cTn id="9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3423240" y="1370880"/>
            <a:ext cx="4366440" cy="290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DejaVu Sans"/>
              </a:rPr>
              <a:t>FLUXO SIMPLES DE DECISÃO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DejaVu Sans"/>
              </a:rPr>
              <a:t>Diretoria / Chefia de Departamento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⬇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Coordenação Estadual do PRNS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⬇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DejaVu Sans"/>
              </a:rPr>
              <a:t>Chefias Regionais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⬇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DejaVu Sans"/>
              </a:rPr>
              <a:t>Técnicos Referenciais + Residentes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⬇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Extensionistas / Microbacias / Produtores</a:t>
            </a:r>
            <a:endParaRPr b="0" lang="pt-BR" sz="2000" spc="-1" strike="noStrike">
              <a:latin typeface="Arial"/>
            </a:endParaRPr>
          </a:p>
        </p:txBody>
      </p:sp>
    </p:spTree>
  </p:cSld>
  <p:timing>
    <p:tnLst>
      <p:par>
        <p:cTn id="99" dur="indefinite" restart="never" nodeType="tmRoot">
          <p:childTnLst>
            <p:seq>
              <p:cTn id="10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2384280" y="235080"/>
            <a:ext cx="6581160" cy="47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50000"/>
              </a:lnSpc>
            </a:pPr>
            <a:r>
              <a:rPr b="0" lang="pt-BR" sz="1800" spc="-1" strike="noStrike">
                <a:latin typeface="Arial"/>
              </a:rPr>
              <a:t>“</a:t>
            </a:r>
            <a:r>
              <a:rPr b="1" lang="pt-BR" sz="1800" spc="-1" strike="noStrike">
                <a:latin typeface="Lucida Calligraphy"/>
              </a:rPr>
              <a:t>O PRNS não é apenas um programa — é uma decisão estratégica do Paraná.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1" lang="pt-BR" sz="1800" spc="-1" strike="noStrike">
                <a:latin typeface="Lucida Calligraphy"/>
              </a:rPr>
              <a:t>Cuidar do solo e da água hoje é garantir produção, renda e segurança amanhã.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1" lang="pt-BR" sz="1800" spc="-1" strike="noStrike">
                <a:latin typeface="Lucida Calligraphy"/>
              </a:rPr>
              <a:t>Cada microbacia recuperada, cada produtor apoiado e cada técnico protagonista constroem um Paraná mais forte.</a:t>
            </a:r>
            <a:endParaRPr b="0" lang="pt-BR" sz="1800" spc="-1" strike="noStrike"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b="1" lang="pt-BR" sz="1800" spc="-1" strike="noStrike">
                <a:latin typeface="Lucida Calligraphy"/>
              </a:rPr>
              <a:t>Quando campo e cidade caminham juntos, a sustentabilidade deixa de ser promessa e se torna futuro.”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2000880" y="4857480"/>
            <a:ext cx="7348680" cy="87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0" lang="pt-BR" sz="2800" spc="-1" strike="noStrike">
                <a:solidFill>
                  <a:srgbClr val="1809bd"/>
                </a:solidFill>
                <a:latin typeface="Times New Roman"/>
              </a:rPr>
              <a:t>Paraná: Onde a produção se encontra com a sustentabilidade.</a:t>
            </a:r>
            <a:endParaRPr b="0" lang="pt-BR" sz="2800" spc="-1" strike="noStrike">
              <a:latin typeface="Arial"/>
            </a:endParaRPr>
          </a:p>
        </p:txBody>
      </p:sp>
    </p:spTree>
  </p:cSld>
  <p:timing>
    <p:tnLst>
      <p:par>
        <p:cTn id="101" dur="indefinite" restart="never" nodeType="tmRoot">
          <p:childTnLst>
            <p:seq>
              <p:cTn id="10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2322360" y="2033280"/>
            <a:ext cx="5666760" cy="217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0" lang="pt-BR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Amauri Ferreira Pinto</a:t>
            </a:r>
            <a:endParaRPr b="0" lang="pt-BR" sz="3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3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Chefe do Departamento de Sustentabilidade</a:t>
            </a: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Diretoria de Extensão Rural</a:t>
            </a: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IDR- Paraná</a:t>
            </a:r>
            <a:endParaRPr b="0" lang="pt-BR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400" spc="-1" strike="noStrike">
                <a:solidFill>
                  <a:srgbClr val="004586"/>
                </a:solidFill>
                <a:latin typeface="Calibri"/>
                <a:ea typeface="DejaVu Sans"/>
              </a:rPr>
              <a:t>amauri@idr.pr.gov.br</a:t>
            </a:r>
            <a:endParaRPr b="0" lang="pt-BR" sz="2400" spc="-1" strike="noStrike">
              <a:latin typeface="Arial"/>
            </a:endParaRPr>
          </a:p>
        </p:txBody>
      </p:sp>
    </p:spTree>
  </p:cSld>
  <p:timing>
    <p:tnLst>
      <p:par>
        <p:cTn id="103" dur="indefinite" restart="never" nodeType="tmRoot">
          <p:childTnLst>
            <p:seq>
              <p:cTn id="10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Application>LibreOffice/6.0.2.1$Windows_X86_64 LibreOffice_project/f7f06a8f319e4b62f9bc5095aa112a65d2f3ac89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2026-01-07T06:36:02Z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